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5A10-DF60-7B2A-864C-E9E30BE4A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15311-9F5F-7BDC-EB2E-2EF2D2DA7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2935F-5EF0-BC4A-D8E3-F9A21AA1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243AA-8476-36D8-0C70-4622EB13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8B6A7-ACC4-170E-83CE-BA19FCE5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42B1-EEEA-5895-C7FB-E3944D51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C7104-3D0E-8E33-0EA5-7D88B3C1B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50CA4-7734-A949-C75B-07924F77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EA45E-6D59-A355-CF96-E1634450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1B67B-28D6-B814-8958-A687B478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86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ABA8-77EB-9ABA-0C0B-F610D3D7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051A0-88D8-7420-B2E3-B7AA132D8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5F5A0-9CF0-3702-76B6-913EDBC3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81AE2-259D-5735-3C1E-F35EC2A7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10DD3-8F77-1671-FB26-D56EC8E6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40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5959-A0C0-4279-A544-01F4AE98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9C517-B061-B7F3-1BE3-CB111CB00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66C99-C7A7-6A99-B191-96E8A5F28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DD07D-9D67-4228-0A2A-3D5724B7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91995-B9BC-3E7F-181B-07118A0B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2634E-D777-32C4-39B4-2B2BD48E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0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A6C48-D5B2-300E-D237-DDCA2C53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10A4B-B0EB-348E-93A1-96C2CEE74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DDE5A-E1A6-21C0-94D7-C292FBC1E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1BD49A-7EA1-5AF7-48FF-FBC0BF6C8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608F5-97D3-B518-BDD2-91854834A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951AB-A509-B9D8-DDF6-BA18AE91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8AA8D-A388-F2B4-8ACD-F6B955136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402C9-628E-7AA6-C845-C56A2182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21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0CC7-574F-299D-7641-875CDCAE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09A84-DEE0-FAD8-6EEC-B5F30285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D452C-7FF2-BE6A-4686-C7BEBC30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9F691-A99B-37C7-B05D-6C8A042B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88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B4EC6-5B99-C242-AFFA-ECE69F0B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BEB42-FE1C-7829-4908-9063A7AF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7C766-EC11-28C7-C8D9-5281D8F5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76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E68-AE4E-1373-A432-E5B1B0FA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5471C-0C9A-7A4A-7981-8FDD8B2D1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BE8F7-95D8-10DB-6B82-DBA764DA5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C4145-5BEB-E4C7-E5F4-E68FB32D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E2017-8008-91B6-BC54-179E0BF0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43A27-CF72-5BCD-65AD-3FA8F4EA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25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C636-AF61-BE5A-4516-F5C1D786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E5F04-9501-E120-B72E-2FFF37565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6E0DA-60A1-E257-C240-730573EC8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F7DEB-EC70-B4D3-0369-60294865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FF154-88AA-CA86-B0A6-4F800366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1791A-0F4F-C58A-4E9E-CC6BC1AC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61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84C25-1E49-4BDD-5906-4D382B15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A8D37-8747-470D-E40A-98A28834F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7C9D5-6BC9-F7E3-6484-F96A0075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2F9F-823A-1266-27C1-1E37656F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79A9-B4C2-9D30-4552-63D2D0D6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17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5A594-22E7-2A6C-9A2E-BF954029F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1574C-6C06-A3DA-E5CE-3EE452B0A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8C549-B765-5136-D7F8-BDF665C2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E0001-95DE-37BD-C9BD-A3803593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CF36-24C8-2B9A-F444-3FD05732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68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E189D-2CB5-5B56-057E-C18761F2C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B9E5-F4D0-A5CE-13B4-DC2682CF2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A2736-CF2A-49D0-D214-21B80105D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75D4A-4A8D-4BC0-9316-6AC5D027256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452D9-B0F4-E8FB-A505-958950481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7390A-ED16-F285-FB3B-7CE108349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C4B11-8F54-4524-98BA-0A56B388E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63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3066-FDC8-5647-8271-2023AF862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012" y="179683"/>
            <a:ext cx="9144000" cy="47034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r>
              <a:rPr lang="en-US" sz="3200" b="1" dirty="0"/>
              <a:t>📊 </a:t>
            </a:r>
            <a:r>
              <a:rPr lang="en-US" sz="3200" b="1" u="sng" dirty="0"/>
              <a:t>Customer Behavior Insights Report</a:t>
            </a:r>
            <a:r>
              <a:rPr lang="en-US" sz="3200" b="1" dirty="0"/>
              <a:t>: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88E21-EED7-9A48-A6F4-B8242480C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012" y="755142"/>
            <a:ext cx="9144000" cy="470343"/>
          </a:xfrm>
        </p:spPr>
        <p:txBody>
          <a:bodyPr>
            <a:normAutofit/>
          </a:bodyPr>
          <a:lstStyle/>
          <a:p>
            <a:r>
              <a:rPr lang="en-IN" dirty="0"/>
              <a:t>🔍 </a:t>
            </a:r>
            <a:r>
              <a:rPr lang="en-IN" b="1" u="sng" dirty="0"/>
              <a:t>Key Insights</a:t>
            </a:r>
            <a:r>
              <a:rPr lang="en-IN" b="1" dirty="0"/>
              <a:t>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695FB-BD27-61CB-4197-41CCCB3EF003}"/>
              </a:ext>
            </a:extLst>
          </p:cNvPr>
          <p:cNvSpPr txBox="1"/>
          <p:nvPr/>
        </p:nvSpPr>
        <p:spPr>
          <a:xfrm>
            <a:off x="141402" y="1225485"/>
            <a:ext cx="11887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💰 Revenue &amp; Customer Value:</a:t>
            </a:r>
          </a:p>
          <a:p>
            <a:r>
              <a:rPr lang="en-US" b="1" dirty="0"/>
              <a:t>	•  Male customers generate ~2x more revenue than female customers</a:t>
            </a:r>
            <a:br>
              <a:rPr lang="en-US" dirty="0"/>
            </a:br>
            <a:r>
              <a:rPr lang="en-US" dirty="0"/>
              <a:t>👉 This is a </a:t>
            </a:r>
            <a:r>
              <a:rPr lang="en-US" b="1" dirty="0"/>
              <a:t>clear revenue concentration segment.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2. 📦 Subscription Behavior:</a:t>
            </a:r>
          </a:p>
          <a:p>
            <a:pPr lvl="1"/>
            <a:r>
              <a:rPr lang="en-US" dirty="0"/>
              <a:t>	 • Non-subscribers are </a:t>
            </a:r>
            <a:r>
              <a:rPr lang="en-US" b="1" dirty="0"/>
              <a:t>~2.5x more than subscribers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Even among </a:t>
            </a:r>
            <a:r>
              <a:rPr lang="en-US" b="1" dirty="0"/>
              <a:t>high-frequency buyers (&gt;5 purchases)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	 • Subscribers are only </a:t>
            </a:r>
            <a:r>
              <a:rPr lang="en-US" b="1" dirty="0"/>
              <a:t>1/3 of non-subscribers</a:t>
            </a:r>
            <a:r>
              <a:rPr lang="en-US" dirty="0"/>
              <a:t> </a:t>
            </a:r>
          </a:p>
          <a:p>
            <a:r>
              <a:rPr lang="en-US" dirty="0"/>
              <a:t>👉 This is a </a:t>
            </a:r>
            <a:r>
              <a:rPr lang="en-US" b="1" dirty="0"/>
              <a:t>huge missed opportunity that </a:t>
            </a:r>
            <a:r>
              <a:rPr lang="en-US" dirty="0"/>
              <a:t>your best customers are </a:t>
            </a:r>
          </a:p>
          <a:p>
            <a:r>
              <a:rPr lang="en-US" b="1" dirty="0"/>
              <a:t>       NOT converting into subscriptions.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👑 Customer Segmentation:</a:t>
            </a:r>
          </a:p>
          <a:p>
            <a:r>
              <a:rPr lang="en-US" b="1" dirty="0"/>
              <a:t>	 • Loyal customers = 4x returning</a:t>
            </a:r>
            <a:r>
              <a:rPr lang="en-US" dirty="0"/>
              <a:t> </a:t>
            </a:r>
          </a:p>
          <a:p>
            <a:r>
              <a:rPr lang="en-US" b="1" dirty="0"/>
              <a:t>	 • Loyal customers = 40x new customers</a:t>
            </a:r>
            <a:r>
              <a:rPr lang="en-US" dirty="0"/>
              <a:t> </a:t>
            </a:r>
          </a:p>
          <a:p>
            <a:r>
              <a:rPr lang="en-US" dirty="0"/>
              <a:t>👉 This means:</a:t>
            </a:r>
          </a:p>
          <a:p>
            <a:pPr lvl="1"/>
            <a:r>
              <a:rPr lang="en-US" dirty="0"/>
              <a:t>Your business is heavily dependent on </a:t>
            </a:r>
            <a:r>
              <a:rPr lang="en-US" b="1" dirty="0"/>
              <a:t>existing loyal users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Customer acquisition is weak OR retention is extremely strong</a:t>
            </a:r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51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A2443A-CB4F-A98F-F5D8-6002C335B5F3}"/>
              </a:ext>
            </a:extLst>
          </p:cNvPr>
          <p:cNvSpPr txBox="1"/>
          <p:nvPr/>
        </p:nvSpPr>
        <p:spPr>
          <a:xfrm>
            <a:off x="131975" y="0"/>
            <a:ext cx="1185892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🏷️ Discounts Impact:</a:t>
            </a:r>
          </a:p>
          <a:p>
            <a:r>
              <a:rPr lang="en-US" dirty="0"/>
              <a:t>	 • Some products have </a:t>
            </a:r>
            <a:r>
              <a:rPr lang="en-US" b="1" dirty="0"/>
              <a:t>very high % of discounted purchases</a:t>
            </a:r>
            <a:r>
              <a:rPr lang="en-US" dirty="0"/>
              <a:t> </a:t>
            </a:r>
          </a:p>
          <a:p>
            <a:r>
              <a:rPr lang="en-US" dirty="0"/>
              <a:t>👉 Likely scenario:</a:t>
            </a:r>
          </a:p>
          <a:p>
            <a:r>
              <a:rPr lang="en-US" dirty="0"/>
              <a:t>       Customers are becoming </a:t>
            </a:r>
            <a:r>
              <a:rPr lang="en-US" b="1" dirty="0"/>
              <a:t>discount-driven</a:t>
            </a:r>
            <a:r>
              <a:rPr lang="en-US" dirty="0"/>
              <a:t> Risk of: </a:t>
            </a:r>
          </a:p>
          <a:p>
            <a:r>
              <a:rPr lang="en-US" dirty="0"/>
              <a:t>	 (A) Reduced margins </a:t>
            </a:r>
          </a:p>
          <a:p>
            <a:pPr lvl="1"/>
            <a:r>
              <a:rPr lang="en-US" dirty="0"/>
              <a:t>	 (B) Customers waiting for offers </a:t>
            </a:r>
          </a:p>
          <a:p>
            <a:endParaRPr lang="en-US" dirty="0"/>
          </a:p>
          <a:p>
            <a:r>
              <a:rPr lang="en-US" b="1" dirty="0"/>
              <a:t>5. ⭐ Product Quality Perception:</a:t>
            </a:r>
          </a:p>
          <a:p>
            <a:r>
              <a:rPr lang="en-US" dirty="0"/>
              <a:t>	 • Top 5 products have </a:t>
            </a:r>
            <a:r>
              <a:rPr lang="en-US" b="1" dirty="0"/>
              <a:t>highest average review ratings</a:t>
            </a:r>
            <a:r>
              <a:rPr lang="en-US" dirty="0"/>
              <a:t> </a:t>
            </a:r>
          </a:p>
          <a:p>
            <a:r>
              <a:rPr lang="en-US" dirty="0"/>
              <a:t>👉 These are:</a:t>
            </a:r>
          </a:p>
          <a:p>
            <a:pPr lvl="1"/>
            <a:r>
              <a:rPr lang="en-US" dirty="0"/>
              <a:t>Your </a:t>
            </a:r>
            <a:r>
              <a:rPr lang="en-US" b="1" dirty="0"/>
              <a:t>brand builders</a:t>
            </a:r>
            <a:r>
              <a:rPr lang="en-US" dirty="0"/>
              <a:t> High trust products → can be used for: </a:t>
            </a:r>
          </a:p>
          <a:p>
            <a:pPr lvl="2"/>
            <a:r>
              <a:rPr lang="en-US" dirty="0"/>
              <a:t>(A) Upselling </a:t>
            </a:r>
          </a:p>
          <a:p>
            <a:pPr lvl="2"/>
            <a:r>
              <a:rPr lang="en-US" dirty="0"/>
              <a:t>(B) Bundling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6. 💳 Payment Behavior</a:t>
            </a:r>
          </a:p>
          <a:p>
            <a:r>
              <a:rPr lang="en-US" b="1" dirty="0"/>
              <a:t>	 • PayPal is the most used payment method</a:t>
            </a:r>
            <a:r>
              <a:rPr lang="en-US" dirty="0"/>
              <a:t> </a:t>
            </a:r>
          </a:p>
          <a:p>
            <a:r>
              <a:rPr lang="en-US" dirty="0"/>
              <a:t>👉 Indicates:</a:t>
            </a:r>
          </a:p>
          <a:p>
            <a:r>
              <a:rPr lang="en-US" dirty="0"/>
              <a:t>	Customers prefer </a:t>
            </a:r>
            <a:r>
              <a:rPr lang="en-US" b="1" dirty="0"/>
              <a:t>fast + trusted checkout systems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7. 🧠 Purchase Behavior</a:t>
            </a:r>
          </a:p>
          <a:p>
            <a:r>
              <a:rPr lang="en-US" dirty="0"/>
              <a:t>	Repeat buyers (&gt;5 purchases):  Are </a:t>
            </a:r>
            <a:r>
              <a:rPr lang="en-US" b="1" dirty="0"/>
              <a:t>NOT strongly linked with subscription</a:t>
            </a:r>
            <a:r>
              <a:rPr lang="en-US" dirty="0"/>
              <a:t> </a:t>
            </a:r>
          </a:p>
          <a:p>
            <a:r>
              <a:rPr lang="en-US" dirty="0"/>
              <a:t>👉 Loyalty ≠ Subscription (Important distinction)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75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728733-5E8F-E40A-89EE-F31CFDD36F67}"/>
              </a:ext>
            </a:extLst>
          </p:cNvPr>
          <p:cNvSpPr txBox="1"/>
          <p:nvPr/>
        </p:nvSpPr>
        <p:spPr>
          <a:xfrm>
            <a:off x="131975" y="0"/>
            <a:ext cx="11924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2DBAA-8E2D-D24F-4A84-8046827CAAD1}"/>
              </a:ext>
            </a:extLst>
          </p:cNvPr>
          <p:cNvSpPr txBox="1"/>
          <p:nvPr/>
        </p:nvSpPr>
        <p:spPr>
          <a:xfrm>
            <a:off x="131975" y="0"/>
            <a:ext cx="1192490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8. 🌍 Revenue Distribution:</a:t>
            </a:r>
          </a:p>
          <a:p>
            <a:r>
              <a:rPr lang="en-US" b="1" dirty="0"/>
              <a:t>           </a:t>
            </a:r>
            <a:r>
              <a:rPr lang="en-IN" dirty="0"/>
              <a:t>Top 10 revenue-generating locations:</a:t>
            </a:r>
          </a:p>
          <a:p>
            <a:pPr lvl="2"/>
            <a:r>
              <a:rPr lang="en-IN" dirty="0"/>
              <a:t>1. Montana → 5784  	6.  Alabama → 5261 </a:t>
            </a:r>
          </a:p>
          <a:p>
            <a:pPr lvl="2"/>
            <a:r>
              <a:rPr lang="en-IN" dirty="0"/>
              <a:t>2. Illinois → 5617 	 	7. New York → 5257 </a:t>
            </a:r>
          </a:p>
          <a:p>
            <a:pPr lvl="2"/>
            <a:r>
              <a:rPr lang="en-IN" dirty="0"/>
              <a:t>3. California → 5605 	8. North Dakota → 5220</a:t>
            </a:r>
          </a:p>
          <a:p>
            <a:pPr lvl="2"/>
            <a:r>
              <a:rPr lang="en-IN" dirty="0"/>
              <a:t>4. Idaho → 5587 		9. West Virginia → 5174 </a:t>
            </a:r>
          </a:p>
          <a:p>
            <a:pPr lvl="2"/>
            <a:r>
              <a:rPr lang="en-IN" dirty="0"/>
              <a:t>5. Nevada → 5514 	 	10. Nebraska → 5172</a:t>
            </a:r>
          </a:p>
          <a:p>
            <a:endParaRPr lang="en-US" b="1" dirty="0"/>
          </a:p>
          <a:p>
            <a:r>
              <a:rPr lang="en-US" dirty="0"/>
              <a:t>	 •</a:t>
            </a:r>
            <a:r>
              <a:rPr lang="en-US" b="1" dirty="0"/>
              <a:t>🏆 No Single Dominant Market</a:t>
            </a:r>
          </a:p>
          <a:p>
            <a:r>
              <a:rPr lang="en-US" dirty="0"/>
              <a:t>	    The difference between </a:t>
            </a:r>
            <a:r>
              <a:rPr lang="en-US" b="1" dirty="0"/>
              <a:t>#1 (Montana: 5784)</a:t>
            </a:r>
            <a:r>
              <a:rPr lang="en-US" dirty="0"/>
              <a:t> and </a:t>
            </a:r>
            <a:r>
              <a:rPr lang="en-US" b="1" dirty="0"/>
              <a:t>#10 (Nebraska: 5172)</a:t>
            </a:r>
            <a:r>
              <a:rPr lang="en-US" dirty="0"/>
              <a:t> is small </a:t>
            </a:r>
          </a:p>
          <a:p>
            <a:r>
              <a:rPr lang="en-US" b="1" dirty="0"/>
              <a:t>💡 Insight:</a:t>
            </a:r>
          </a:p>
          <a:p>
            <a:r>
              <a:rPr lang="en-US" dirty="0"/>
              <a:t>Revenue is </a:t>
            </a:r>
            <a:r>
              <a:rPr lang="en-US" b="1" dirty="0"/>
              <a:t>fairly evenly distributed across top locations.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9. 📊 Seasonal Trends:</a:t>
            </a:r>
            <a:endParaRPr lang="en-IN" b="1" dirty="0"/>
          </a:p>
          <a:p>
            <a:r>
              <a:rPr lang="en-IN" b="1" dirty="0"/>
              <a:t>           </a:t>
            </a:r>
            <a:r>
              <a:rPr lang="en-US" dirty="0"/>
              <a:t>Seasonal total sales:</a:t>
            </a:r>
          </a:p>
          <a:p>
            <a:r>
              <a:rPr lang="en-US" dirty="0"/>
              <a:t>	Fall → 60,018 🏆 </a:t>
            </a:r>
          </a:p>
          <a:p>
            <a:r>
              <a:rPr lang="en-US" dirty="0"/>
              <a:t>	Spring → 58,679 </a:t>
            </a:r>
          </a:p>
          <a:p>
            <a:r>
              <a:rPr lang="en-US" dirty="0"/>
              <a:t>	Winter → 58,607 </a:t>
            </a:r>
          </a:p>
          <a:p>
            <a:r>
              <a:rPr lang="en-US" dirty="0"/>
              <a:t>	Summer → 55,777 </a:t>
            </a:r>
          </a:p>
          <a:p>
            <a:r>
              <a:rPr lang="en-IN" dirty="0"/>
              <a:t>Simply Says:</a:t>
            </a:r>
          </a:p>
          <a:p>
            <a:r>
              <a:rPr lang="en-IN" dirty="0"/>
              <a:t>	 Fall 🔼 Peak</a:t>
            </a:r>
            <a:br>
              <a:rPr lang="en-IN" dirty="0"/>
            </a:br>
            <a:r>
              <a:rPr lang="en-IN" dirty="0"/>
              <a:t>	Spring ➖ Stable</a:t>
            </a:r>
            <a:br>
              <a:rPr lang="en-IN" dirty="0"/>
            </a:br>
            <a:r>
              <a:rPr lang="en-IN" dirty="0"/>
              <a:t>	Winter ➖ Stable</a:t>
            </a:r>
            <a:br>
              <a:rPr lang="en-IN" dirty="0"/>
            </a:br>
            <a:r>
              <a:rPr lang="en-IN" dirty="0"/>
              <a:t>	Summer 🔽 Dip</a:t>
            </a:r>
          </a:p>
        </p:txBody>
      </p:sp>
    </p:spTree>
    <p:extLst>
      <p:ext uri="{BB962C8B-B14F-4D97-AF65-F5344CB8AC3E}">
        <p14:creationId xmlns:p14="http://schemas.microsoft.com/office/powerpoint/2010/main" val="4213464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446</Words>
  <Application>Microsoft Office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📊 Customer Behavior Insights Report: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Shah</dc:creator>
  <cp:lastModifiedBy>Rohan Shah</cp:lastModifiedBy>
  <cp:revision>1</cp:revision>
  <dcterms:created xsi:type="dcterms:W3CDTF">2026-04-29T16:30:31Z</dcterms:created>
  <dcterms:modified xsi:type="dcterms:W3CDTF">2026-04-29T17:55:29Z</dcterms:modified>
</cp:coreProperties>
</file>